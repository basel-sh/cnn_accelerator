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2.png"/><Relationship Id="rId4" Type="http://schemas.openxmlformats.org/officeDocument/2006/relationships/image" Target="../media/image-9-2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2011680"/>
            <a:ext cx="5486400" cy="5486400"/>
          </a:xfrm>
          <a:prstGeom prst="ellipse">
            <a:avLst/>
          </a:prstGeom>
          <a:solidFill>
            <a:srgbClr val="0F2440"/>
          </a:solidFill>
          <a:ln/>
        </p:spPr>
      </p:sp>
      <p:sp>
        <p:nvSpPr>
          <p:cNvPr id="4" name="Shape 2"/>
          <p:cNvSpPr/>
          <p:nvPr/>
        </p:nvSpPr>
        <p:spPr>
          <a:xfrm>
            <a:off x="-2286000" y="4572000"/>
            <a:ext cx="4572000" cy="4572000"/>
          </a:xfrm>
          <a:prstGeom prst="ellipse">
            <a:avLst/>
          </a:prstGeom>
          <a:solidFill>
            <a:srgbClr val="0F2440"/>
          </a:solidFill>
          <a:ln/>
        </p:spPr>
      </p:sp>
      <p:pic>
        <p:nvPicPr>
          <p:cNvPr id="5" name="Image 0" descr="/tmp/work/pptx/icons/microchip_acc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914400"/>
            <a:ext cx="640080" cy="6400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00200" y="9144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SILICON MINDS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1920240"/>
            <a:ext cx="8686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Student.</a:t>
            </a:r>
            <a:endParaRPr lang="en-US" sz="5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Deadline.</a:t>
            </a:r>
            <a:endParaRPr lang="en-US" sz="5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Chip.</a:t>
            </a:r>
            <a:endParaRPr lang="en-US" sz="54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489204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solo engineer designed, verified, and optimized an FPGA CNN accelerator for the IEEE SSCS Egypt Chapter 2026 Student Design Competition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5989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B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  |  Team Silicon Minds  |  September 2026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21" dur="indefinite" restart="never" nodeType="tmRoot">
          <p:childTnLst>
            <p:seq concurrent="1" nextAc="seek">
              <p:cTn id="120" dur="indefinite" nodeType="mainSeq">
                <p:childTnLst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256032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 — THE SPARK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Machines need to see. Most can't afford to.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600200"/>
            <a:ext cx="5486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9F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cameras, industrial inspection lines, and always-on sensors all want the same thing: recognize what they're looking at, instantly, on the device itself — no cloud, no delay, no big power bill.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324612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9F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recognition starts with one operation, repeated millions of times a second: convolution — sliding a small kernel across an image and multiplying, adding, multiplying, adding.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489204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Doing that on a general-purpose processor is slow and power-hungry. Doing it in dedicated silicon is the entire idea behind this project.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537960" y="1554480"/>
            <a:ext cx="4983480" cy="4572000"/>
          </a:xfrm>
          <a:prstGeom prst="roundRect">
            <a:avLst>
              <a:gd name="adj" fmla="val 2400"/>
            </a:avLst>
          </a:prstGeom>
          <a:solidFill>
            <a:srgbClr val="13223B"/>
          </a:solidFill>
          <a:ln/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858000" y="187452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0F1B30"/>
          </a:solidFill>
          <a:ln w="12700">
            <a:solidFill>
              <a:srgbClr val="3B5A82"/>
            </a:solidFill>
            <a:prstDash val="solid"/>
          </a:ln>
        </p:spPr>
      </p:sp>
      <p:pic>
        <p:nvPicPr>
          <p:cNvPr id="9" name="Image 0" descr="/tmp/work/pptx/icons/camera_acc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5160" y="201168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7680960" y="18288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vision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7680960" y="2194560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F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Cameras &amp; sensors that must act on what they see, locally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858000" y="324612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0F1B30"/>
          </a:solidFill>
          <a:ln w="12700">
            <a:solidFill>
              <a:srgbClr val="3B5A82"/>
            </a:solidFill>
            <a:prstDash val="solid"/>
          </a:ln>
        </p:spPr>
      </p:sp>
      <p:pic>
        <p:nvPicPr>
          <p:cNvPr id="13" name="Image 1" descr="/tmp/work/pptx/icons/bolt_acc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0" y="338328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680960" y="32004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 power budget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7680960" y="3566160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F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Battery- or PoE-powered devices, not a data-center rack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858000" y="461772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0F1B30"/>
          </a:solidFill>
          <a:ln w="12700">
            <a:solidFill>
              <a:srgbClr val="3B5A82"/>
            </a:solidFill>
            <a:prstDash val="solid"/>
          </a:ln>
        </p:spPr>
      </p:sp>
      <p:pic>
        <p:nvPicPr>
          <p:cNvPr id="17" name="Image 2" descr="/tmp/work/pptx/icons/brain_acc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0" y="475488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680960" y="45720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core operation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7680960" y="4937760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F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N×N convolution — the heart of every CNN layer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640080" y="63550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SSCS Egypt Chapter 2026 Student Design Competition</a:t>
            </a:r>
            <a:endParaRPr lang="en-US" sz="1000" dirty="0"/>
          </a:p>
        </p:txBody>
      </p:sp>
      <p:sp>
        <p:nvSpPr>
          <p:cNvPr id="21" name="Text 16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58368" y="256032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 — THE TURNING POINT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Then, weeks before the deadline, the team was gone.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187452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9F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Silicon Minds started as a team. By the time the real work began — architecture, RTL, verification, optimization, synthesis — it was one person and a deadline.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30632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plan changed: not "finish what we started," but "own every stage, personally."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4434840"/>
            <a:ext cx="1965960" cy="914400"/>
          </a:xfrm>
          <a:prstGeom prst="roundRect">
            <a:avLst>
              <a:gd name="adj" fmla="val 10000"/>
            </a:avLst>
          </a:prstGeom>
          <a:solidFill>
            <a:srgbClr val="13223B"/>
          </a:solidFill>
          <a:ln w="12700">
            <a:solidFill>
              <a:srgbClr val="3B5A8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8368" y="443484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2624328" y="4434840"/>
            <a:ext cx="256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B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880360" y="4434840"/>
            <a:ext cx="1965960" cy="914400"/>
          </a:xfrm>
          <a:prstGeom prst="roundRect">
            <a:avLst>
              <a:gd name="adj" fmla="val 10000"/>
            </a:avLst>
          </a:prstGeom>
          <a:solidFill>
            <a:srgbClr val="13223B"/>
          </a:solidFill>
          <a:ln w="12700">
            <a:solidFill>
              <a:srgbClr val="3B5A8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880360" y="443484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(RTL)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4434840"/>
            <a:ext cx="256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B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102352" y="4434840"/>
            <a:ext cx="1965960" cy="914400"/>
          </a:xfrm>
          <a:prstGeom prst="roundRect">
            <a:avLst>
              <a:gd name="adj" fmla="val 10000"/>
            </a:avLst>
          </a:prstGeom>
          <a:solidFill>
            <a:srgbClr val="13223B"/>
          </a:solidFill>
          <a:ln w="12700">
            <a:solidFill>
              <a:srgbClr val="3B5A8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102352" y="443484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068312" y="4434840"/>
            <a:ext cx="256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B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324344" y="4434840"/>
            <a:ext cx="1965960" cy="914400"/>
          </a:xfrm>
          <a:prstGeom prst="roundRect">
            <a:avLst>
              <a:gd name="adj" fmla="val 10000"/>
            </a:avLst>
          </a:prstGeom>
          <a:solidFill>
            <a:srgbClr val="13223B"/>
          </a:solidFill>
          <a:ln w="12700">
            <a:solidFill>
              <a:srgbClr val="3B5A8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24344" y="443484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9290304" y="4434840"/>
            <a:ext cx="256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B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546336" y="4434840"/>
            <a:ext cx="1965960" cy="914400"/>
          </a:xfrm>
          <a:prstGeom prst="roundRect">
            <a:avLst>
              <a:gd name="adj" fmla="val 10000"/>
            </a:avLst>
          </a:prstGeom>
          <a:solidFill>
            <a:srgbClr val="13223B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546336" y="443484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58368" y="57150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B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result in this deck — every line of RTL, every test, every optimization — was built solo, start to finish.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26" dur="indefinite" restart="never" nodeType="tmRoot">
          <p:childTnLst>
            <p:seq concurrent="1" nextAc="seek">
              <p:cTn id="125" dur="indefinite" nodeType="mainSeq">
                <p:childTnLst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  <p:bldP spid="14" grpId="0"/>
      <p:bldP spid="17" grpId="0"/>
      <p:bldP spid="2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256032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 — THE BLUEPRINT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Think of it as a factory line for pixels.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600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9F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a general-purpose processor juggling instructions, the chip is a straight conveyor belt: the image goes in one end, and one finished answer comes out the other end — every single clock cycle.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58368" y="2788920"/>
            <a:ext cx="2084832" cy="3063240"/>
          </a:xfrm>
          <a:prstGeom prst="roundRect">
            <a:avLst>
              <a:gd name="adj" fmla="val 4386"/>
            </a:avLst>
          </a:prstGeom>
          <a:solidFill>
            <a:srgbClr val="13223B"/>
          </a:solidFill>
          <a:ln/>
          <a:effectLst>
            <a:outerShdw sx="100000" sy="100000" kx="0" ky="0" algn="bl" rotWithShape="0" blurRad="101600" dist="25400" dir="54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80744" y="306324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0F1B30"/>
          </a:solidFill>
          <a:ln w="12700">
            <a:solidFill>
              <a:srgbClr val="00D4FF"/>
            </a:solidFill>
            <a:prstDash val="solid"/>
          </a:ln>
        </p:spPr>
      </p:sp>
      <p:pic>
        <p:nvPicPr>
          <p:cNvPr id="7" name="Image 0" descr="/tmp/work/pptx/icons/sitemap_acc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17904" y="3200400"/>
            <a:ext cx="365760" cy="3657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49808" y="3840480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Memory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795528" y="4343400"/>
            <a:ext cx="18105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F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the picture, feeds it out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F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pixel per tick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2697480" y="397764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2907792" y="2788920"/>
            <a:ext cx="2084832" cy="3063240"/>
          </a:xfrm>
          <a:prstGeom prst="roundRect">
            <a:avLst>
              <a:gd name="adj" fmla="val 4386"/>
            </a:avLst>
          </a:prstGeom>
          <a:solidFill>
            <a:srgbClr val="13223B"/>
          </a:solidFill>
          <a:ln/>
          <a:effectLst>
            <a:outerShdw sx="100000" sy="100000" kx="0" ky="0" algn="bl" rotWithShape="0" blurRad="101600" dist="25400" dir="5400000">
              <a:srgbClr val="000000">
                <a:alpha val="3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30168" y="306324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0F1B30"/>
          </a:solidFill>
          <a:ln w="12700">
            <a:solidFill>
              <a:srgbClr val="00D4FF"/>
            </a:solidFill>
            <a:prstDash val="solid"/>
          </a:ln>
        </p:spPr>
      </p:sp>
      <p:pic>
        <p:nvPicPr>
          <p:cNvPr id="13" name="Image 1" descr="/tmp/work/pptx/icons/layers_acc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7328" y="320040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2999232" y="3840480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Buffer</a:t>
            </a:r>
            <a:endParaRPr lang="en-US" sz="1350" dirty="0"/>
          </a:p>
        </p:txBody>
      </p:sp>
      <p:sp>
        <p:nvSpPr>
          <p:cNvPr id="15" name="Text 11"/>
          <p:cNvSpPr txBox="1"/>
          <p:nvPr/>
        </p:nvSpPr>
        <p:spPr>
          <a:xfrm>
            <a:off x="3044952" y="4343400"/>
            <a:ext cx="18105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F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Remembers the last few rows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F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a full neighborhood exists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4946904" y="397764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5157216" y="2788920"/>
            <a:ext cx="2084832" cy="3063240"/>
          </a:xfrm>
          <a:prstGeom prst="roundRect">
            <a:avLst>
              <a:gd name="adj" fmla="val 4386"/>
            </a:avLst>
          </a:prstGeom>
          <a:solidFill>
            <a:srgbClr val="13223B"/>
          </a:solidFill>
          <a:ln/>
          <a:effectLst>
            <a:outerShdw sx="100000" sy="100000" kx="0" ky="0" algn="bl" rotWithShape="0" blurRad="101600" dist="25400" dir="5400000">
              <a:srgbClr val="000000">
                <a:alpha val="3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879592" y="306324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0F1B30"/>
          </a:solidFill>
          <a:ln w="12700">
            <a:solidFill>
              <a:srgbClr val="00D4FF"/>
            </a:solidFill>
            <a:prstDash val="solid"/>
          </a:ln>
        </p:spPr>
      </p:sp>
      <p:pic>
        <p:nvPicPr>
          <p:cNvPr id="19" name="Image 2" descr="/tmp/work/pptx/icons/bullseye_acc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6752" y="320040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5248656" y="3840480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Slider</a:t>
            </a:r>
            <a:endParaRPr lang="en-US" sz="1350" dirty="0"/>
          </a:p>
        </p:txBody>
      </p:sp>
      <p:sp>
        <p:nvSpPr>
          <p:cNvPr id="21" name="Text 16"/>
          <p:cNvSpPr txBox="1"/>
          <p:nvPr/>
        </p:nvSpPr>
        <p:spPr>
          <a:xfrm>
            <a:off x="5294376" y="4343400"/>
            <a:ext cx="18105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F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Frames the current N×N patch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F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image, live</a:t>
            </a:r>
            <a:endParaRPr lang="en-US" sz="1100" dirty="0"/>
          </a:p>
        </p:txBody>
      </p:sp>
      <p:sp>
        <p:nvSpPr>
          <p:cNvPr id="22" name="Text 17"/>
          <p:cNvSpPr txBox="1"/>
          <p:nvPr/>
        </p:nvSpPr>
        <p:spPr>
          <a:xfrm>
            <a:off x="7196328" y="397764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Shape 18"/>
          <p:cNvSpPr/>
          <p:nvPr/>
        </p:nvSpPr>
        <p:spPr>
          <a:xfrm>
            <a:off x="7406640" y="2788920"/>
            <a:ext cx="2084832" cy="3063240"/>
          </a:xfrm>
          <a:prstGeom prst="roundRect">
            <a:avLst>
              <a:gd name="adj" fmla="val 4386"/>
            </a:avLst>
          </a:prstGeom>
          <a:solidFill>
            <a:srgbClr val="13223B"/>
          </a:solidFill>
          <a:ln/>
          <a:effectLst>
            <a:outerShdw sx="100000" sy="100000" kx="0" ky="0" algn="bl" rotWithShape="0" blurRad="101600" dist="25400" dir="5400000">
              <a:srgbClr val="000000">
                <a:alpha val="3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8129016" y="306324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0F1B30"/>
          </a:solidFill>
          <a:ln w="12700">
            <a:solidFill>
              <a:srgbClr val="00D4FF"/>
            </a:solidFill>
            <a:prstDash val="solid"/>
          </a:ln>
        </p:spPr>
      </p:sp>
      <p:pic>
        <p:nvPicPr>
          <p:cNvPr id="25" name="Image 3" descr="/tmp/work/pptx/icons/cogs_acce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6176" y="3200400"/>
            <a:ext cx="365760" cy="365760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7498080" y="3840480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Multiply-Add Engine</a:t>
            </a:r>
            <a:endParaRPr lang="en-US" sz="1350" dirty="0"/>
          </a:p>
        </p:txBody>
      </p:sp>
      <p:sp>
        <p:nvSpPr>
          <p:cNvPr id="27" name="Text 21"/>
          <p:cNvSpPr txBox="1"/>
          <p:nvPr/>
        </p:nvSpPr>
        <p:spPr>
          <a:xfrm>
            <a:off x="7543800" y="4343400"/>
            <a:ext cx="18105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F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Blends the patch with the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F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— the actual "thinking"</a:t>
            </a:r>
            <a:endParaRPr lang="en-US" sz="1100" dirty="0"/>
          </a:p>
        </p:txBody>
      </p:sp>
      <p:sp>
        <p:nvSpPr>
          <p:cNvPr id="28" name="Text 22"/>
          <p:cNvSpPr txBox="1"/>
          <p:nvPr/>
        </p:nvSpPr>
        <p:spPr>
          <a:xfrm>
            <a:off x="9445752" y="397764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9" name="Shape 23"/>
          <p:cNvSpPr/>
          <p:nvPr/>
        </p:nvSpPr>
        <p:spPr>
          <a:xfrm>
            <a:off x="9656064" y="2788920"/>
            <a:ext cx="2084832" cy="3063240"/>
          </a:xfrm>
          <a:prstGeom prst="roundRect">
            <a:avLst>
              <a:gd name="adj" fmla="val 4386"/>
            </a:avLst>
          </a:prstGeom>
          <a:solidFill>
            <a:srgbClr val="13223B"/>
          </a:solidFill>
          <a:ln/>
          <a:effectLst>
            <a:outerShdw sx="100000" sy="100000" kx="0" ky="0" algn="bl" rotWithShape="0" blurRad="101600" dist="25400" dir="5400000">
              <a:srgbClr val="000000">
                <a:alpha val="30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10378440" y="306324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0F1B30"/>
          </a:solidFill>
          <a:ln w="12700">
            <a:solidFill>
              <a:srgbClr val="00D4FF"/>
            </a:solidFill>
            <a:prstDash val="solid"/>
          </a:ln>
        </p:spPr>
      </p:sp>
      <p:pic>
        <p:nvPicPr>
          <p:cNvPr id="31" name="Image 4" descr="/tmp/work/pptx/icons/check_accen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0" y="3200400"/>
            <a:ext cx="365760" cy="365760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9747504" y="3840480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Stream</a:t>
            </a:r>
            <a:endParaRPr lang="en-US" sz="1350" dirty="0"/>
          </a:p>
        </p:txBody>
      </p:sp>
      <p:sp>
        <p:nvSpPr>
          <p:cNvPr id="33" name="Text 26"/>
          <p:cNvSpPr txBox="1"/>
          <p:nvPr/>
        </p:nvSpPr>
        <p:spPr>
          <a:xfrm>
            <a:off x="9793224" y="4343400"/>
            <a:ext cx="18105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F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clean-up (ReLU),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F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streams the result out</a:t>
            </a:r>
            <a:endParaRPr lang="en-US" sz="1100" dirty="0"/>
          </a:p>
        </p:txBody>
      </p:sp>
      <p:sp>
        <p:nvSpPr>
          <p:cNvPr id="34" name="Text 27"/>
          <p:cNvSpPr txBox="1"/>
          <p:nvPr/>
        </p:nvSpPr>
        <p:spPr>
          <a:xfrm>
            <a:off x="658368" y="60807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a fully pipelined design that produces one finished output pixel every clock cycle — no stalls once it gets going.</a:t>
            </a:r>
            <a:endParaRPr lang="en-US" sz="1300" dirty="0"/>
          </a:p>
        </p:txBody>
      </p:sp>
      <p:sp>
        <p:nvSpPr>
          <p:cNvPr id="35" name="Text 28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256032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 — THE BLUEPRINT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Nothing is hard-wired. Everything is a dial.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58368" y="1737360"/>
            <a:ext cx="822960" cy="822960"/>
          </a:xfrm>
          <a:prstGeom prst="roundRect">
            <a:avLst>
              <a:gd name="adj" fmla="val 50000"/>
            </a:avLst>
          </a:prstGeom>
          <a:solidFill>
            <a:srgbClr val="13223B"/>
          </a:solidFill>
          <a:ln w="12700">
            <a:solidFill>
              <a:srgbClr val="3B5A82"/>
            </a:solidFill>
            <a:prstDash val="solid"/>
          </a:ln>
        </p:spPr>
      </p:sp>
      <p:pic>
        <p:nvPicPr>
          <p:cNvPr id="5" name="Image 0" descr="/tmp/work/pptx/icons/microchip_acc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92024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91640" y="1719072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kernel, any time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1691640" y="2121408"/>
            <a:ext cx="941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9F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N×N kernel is loaded at runtime, coefficient by coefficient — swap edge-detection for something else without touching the chip design.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58368" y="3017520"/>
            <a:ext cx="822960" cy="822960"/>
          </a:xfrm>
          <a:prstGeom prst="roundRect">
            <a:avLst>
              <a:gd name="adj" fmla="val 50000"/>
            </a:avLst>
          </a:prstGeom>
          <a:solidFill>
            <a:srgbClr val="13223B"/>
          </a:solidFill>
          <a:ln w="12700">
            <a:solidFill>
              <a:srgbClr val="3B5A82"/>
            </a:solidFill>
            <a:prstDash val="solid"/>
          </a:ln>
        </p:spPr>
      </p:sp>
      <p:pic>
        <p:nvPicPr>
          <p:cNvPr id="9" name="Image 1" descr="/tmp/work/pptx/icons/chart_acc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320040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691640" y="2999232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reasonable image size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1691640" y="3401568"/>
            <a:ext cx="941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9F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32×32 is the floor, not the ceiling — verified running cleanly at 64×64 with no redesign.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658368" y="4297680"/>
            <a:ext cx="822960" cy="822960"/>
          </a:xfrm>
          <a:prstGeom prst="roundRect">
            <a:avLst>
              <a:gd name="adj" fmla="val 50000"/>
            </a:avLst>
          </a:prstGeom>
          <a:solidFill>
            <a:srgbClr val="13223B"/>
          </a:solidFill>
          <a:ln w="12700">
            <a:solidFill>
              <a:srgbClr val="3B5A82"/>
            </a:solidFill>
            <a:prstDash val="solid"/>
          </a:ln>
        </p:spPr>
      </p:sp>
      <p:pic>
        <p:nvPicPr>
          <p:cNvPr id="13" name="Image 2" descr="/tmp/work/pptx/icons/bolt_acc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448056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691640" y="4279392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 on demand</a:t>
            </a:r>
            <a:endParaRPr lang="en-US" sz="1700" dirty="0"/>
          </a:p>
        </p:txBody>
      </p:sp>
      <p:sp>
        <p:nvSpPr>
          <p:cNvPr id="15" name="Text 10"/>
          <p:cNvSpPr txBox="1"/>
          <p:nvPr/>
        </p:nvSpPr>
        <p:spPr>
          <a:xfrm>
            <a:off x="1691640" y="4681728"/>
            <a:ext cx="941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9F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control bit turns on activation clean-up — useful for vision, skippable when it's not.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58368" y="5623560"/>
            <a:ext cx="10881360" cy="777240"/>
          </a:xfrm>
          <a:prstGeom prst="roundRect">
            <a:avLst>
              <a:gd name="adj" fmla="val 11765"/>
            </a:avLst>
          </a:prstGeom>
          <a:solidFill>
            <a:srgbClr val="0F2A3A"/>
          </a:solidFill>
          <a:ln w="9525">
            <a:solidFill>
              <a:srgbClr val="00D4FF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914400" y="562356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the same chip design can be re-purposed for a different vision task just by reloading numbers — not re-spinning silicon.</a:t>
            </a:r>
            <a:endParaRPr lang="en-US" sz="1350" dirty="0"/>
          </a:p>
        </p:txBody>
      </p:sp>
      <p:sp>
        <p:nvSpPr>
          <p:cNvPr id="18" name="Text 13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256032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 — THE PROOF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clever design that's wrong is worthless. So: prove it.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64592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9F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trusting a single result, every output the chip produces is checked, pixel by pixel, against an independent Python model computing the exact same math by hand.</a:t>
            </a:r>
            <a:endParaRPr lang="en-US" sz="155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2971800"/>
            <a:ext cx="5577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9F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a 46-case test plan pushes the design into every corner it could ever fail in: empty images, extreme values, resets mid-operation, back-to-back runs with zero gap, and invalid inputs on purpose.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470916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9F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layered SystemVerilog testbench (its own small piece of software engineering) automates all of it, with coverage tracking to prove nothing was skipped.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629400" y="1645920"/>
            <a:ext cx="4892040" cy="4480560"/>
          </a:xfrm>
          <a:prstGeom prst="roundRect">
            <a:avLst>
              <a:gd name="adj" fmla="val 2857"/>
            </a:avLst>
          </a:prstGeom>
          <a:solidFill>
            <a:srgbClr val="13223B"/>
          </a:solidFill>
          <a:ln/>
          <a:effectLst>
            <a:outerShdw sx="100000" sy="100000" kx="0" ky="0" algn="bl" rotWithShape="0" blurRad="177800" dist="38100" dir="5400000">
              <a:srgbClr val="000000">
                <a:alpha val="35000"/>
              </a:srgbClr>
            </a:outerShdw>
          </a:effectLst>
        </p:spPr>
      </p:sp>
      <p:pic>
        <p:nvPicPr>
          <p:cNvPr id="8" name="Image 0" descr="/tmp/work/pptx/icons/check_acc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2520" y="1965960"/>
            <a:ext cx="685800" cy="6858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629400" y="2743200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3DDC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900 / 900</a:t>
            </a:r>
            <a:endParaRPr lang="en-US" sz="5800" dirty="0"/>
          </a:p>
        </p:txBody>
      </p:sp>
      <p:sp>
        <p:nvSpPr>
          <p:cNvPr id="10" name="Text 7"/>
          <p:cNvSpPr txBox="1"/>
          <p:nvPr/>
        </p:nvSpPr>
        <p:spPr>
          <a:xfrm>
            <a:off x="6629400" y="3794760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pixels bit-exact</a:t>
            </a:r>
            <a:endParaRPr lang="en-US" sz="1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the golden model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223760" y="4709160"/>
            <a:ext cx="3703320" cy="0"/>
          </a:xfrm>
          <a:prstGeom prst="line">
            <a:avLst/>
          </a:prstGeom>
          <a:noFill/>
          <a:ln w="12700">
            <a:solidFill>
              <a:srgbClr val="3B5A8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629400" y="489204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 test cases  ·  6 categories  ·  full coverage plan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6903720" y="5349240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F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· Boundary · Reset · Back-to-back · Error injection · Timing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11" dur="indefinite" restart="never" nodeType="tmRoot">
          <p:childTnLst>
            <p:seq concurrent="1" nextAc="seek">
              <p:cTn id="110" dur="indefinite" nodeType="mainSeq">
                <p:childTnLst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256032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 — THE HUNT FOR EFFICIENCY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wasn't the finish line. Efficient was.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6459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9F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correct first version quietly wasted resources: an output buffer sized for an entire image when only a handful of results are ever in flight at once — about 20,000 flip-flops doing almost nothing.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58368" y="2697480"/>
            <a:ext cx="5029200" cy="2834640"/>
          </a:xfrm>
          <a:prstGeom prst="roundRect">
            <a:avLst>
              <a:gd name="adj" fmla="val 3871"/>
            </a:avLst>
          </a:prstGeom>
          <a:solidFill>
            <a:srgbClr val="0F1B30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880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20040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3.96 × 10⁻⁴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4023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of Merit  ·  100 MHz, unoptimized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4526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7,396 LUTs   ·   0.339 W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48920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3B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oversized output buffer built almost entirely from unnecessary flip-flops.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5806440" y="3749040"/>
            <a:ext cx="594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6492240" y="2697480"/>
            <a:ext cx="5029200" cy="2834640"/>
          </a:xfrm>
          <a:prstGeom prst="roundRect">
            <a:avLst>
              <a:gd name="adj" fmla="val 3871"/>
            </a:avLst>
          </a:prstGeom>
          <a:solidFill>
            <a:srgbClr val="0F2A22"/>
          </a:solidFill>
          <a:ln w="15875">
            <a:solidFill>
              <a:srgbClr val="3DDC9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02552" y="2880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702552" y="320040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7.52 × 10⁻³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6702552" y="4023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of Merit  ·  20 MHz, optimized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702552" y="4526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842 LUTs   ·   0.149 W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702552" y="48920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Right-sized buffer, a deliberate low-power clock choice, and a real reset-hazard fixed.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58368" y="5760720"/>
            <a:ext cx="10881360" cy="685800"/>
          </a:xfrm>
          <a:prstGeom prst="roundRect">
            <a:avLst>
              <a:gd name="adj" fmla="val 13333"/>
            </a:avLst>
          </a:prstGeom>
          <a:solidFill>
            <a:srgbClr val="0F2A3A"/>
          </a:solidFill>
          <a:ln w="9525">
            <a:solidFill>
              <a:srgbClr val="00D4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2960" y="576072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19× more efficient — with every decision traceable to a number, not a guess.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16" dur="indefinite" restart="never" nodeType="tmRoot">
          <p:childTnLst>
            <p:seq concurrent="1" nextAc="seek">
              <p:cTn id="115" dur="indefinite" nodeType="mainSeq">
                <p:childTnLst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4" grpId="0"/>
      <p:bldP spid="1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256032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 — THE NUMBERS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chip actually costs — and delivers.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58368" y="1691640"/>
            <a:ext cx="3474720" cy="1965960"/>
          </a:xfrm>
          <a:prstGeom prst="roundRect">
            <a:avLst>
              <a:gd name="adj" fmla="val 4651"/>
            </a:avLst>
          </a:prstGeom>
          <a:solidFill>
            <a:srgbClr val="13223B"/>
          </a:solidFill>
          <a:ln/>
          <a:effectLst>
            <a:outerShdw sx="100000" sy="100000" kx="0" ky="0" algn="bl" rotWithShape="0" blurRad="101600" dist="25400" dir="54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86968" y="187452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D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842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886968" y="27432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LUTs used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86968" y="31089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1.6% of the Zynq-7020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15968" y="1691640"/>
            <a:ext cx="3474720" cy="1965960"/>
          </a:xfrm>
          <a:prstGeom prst="roundRect">
            <a:avLst>
              <a:gd name="adj" fmla="val 4651"/>
            </a:avLst>
          </a:prstGeom>
          <a:solidFill>
            <a:srgbClr val="13223B"/>
          </a:solidFill>
          <a:ln/>
          <a:effectLst>
            <a:outerShdw sx="100000" sy="100000" kx="0" ky="0" algn="bl" rotWithShape="0" blurRad="101600" dist="25400" dir="54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544568" y="187452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D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4544568" y="27432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DSP48 slices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544568" y="31089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at zero, on purpose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973568" y="1691640"/>
            <a:ext cx="3474720" cy="1965960"/>
          </a:xfrm>
          <a:prstGeom prst="roundRect">
            <a:avLst>
              <a:gd name="adj" fmla="val 4651"/>
            </a:avLst>
          </a:prstGeom>
          <a:solidFill>
            <a:srgbClr val="13223B"/>
          </a:solidFill>
          <a:ln/>
          <a:effectLst>
            <a:outerShdw sx="100000" sy="100000" kx="0" ky="0" algn="bl" rotWithShape="0" blurRad="101600" dist="25400" dir="54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202168" y="187452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D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69.1 MHz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8202168" y="27432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Max. frequency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202168" y="31089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MHz chosen for low power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58368" y="3840480"/>
            <a:ext cx="3474720" cy="1965960"/>
          </a:xfrm>
          <a:prstGeom prst="roundRect">
            <a:avLst>
              <a:gd name="adj" fmla="val 4651"/>
            </a:avLst>
          </a:prstGeom>
          <a:solidFill>
            <a:srgbClr val="13223B"/>
          </a:solidFill>
          <a:ln/>
          <a:effectLst>
            <a:outerShdw sx="100000" sy="100000" kx="0" ky="0" algn="bl" rotWithShape="0" blurRad="101600" dist="25400" dir="54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86968" y="402336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D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0.149 W</a:t>
            </a:r>
            <a:endParaRPr lang="en-US" sz="3400" dirty="0"/>
          </a:p>
        </p:txBody>
      </p:sp>
      <p:sp>
        <p:nvSpPr>
          <p:cNvPr id="18" name="Text 16"/>
          <p:cNvSpPr txBox="1"/>
          <p:nvPr/>
        </p:nvSpPr>
        <p:spPr>
          <a:xfrm>
            <a:off x="886968" y="48920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power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86968" y="52578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estimated, fully routed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315968" y="3840480"/>
            <a:ext cx="3474720" cy="1965960"/>
          </a:xfrm>
          <a:prstGeom prst="roundRect">
            <a:avLst>
              <a:gd name="adj" fmla="val 4651"/>
            </a:avLst>
          </a:prstGeom>
          <a:solidFill>
            <a:srgbClr val="13223B"/>
          </a:solidFill>
          <a:ln/>
          <a:effectLst>
            <a:outerShdw sx="100000" sy="100000" kx="0" ky="0" algn="bl" rotWithShape="0" blurRad="101600" dist="25400" dir="540000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4544568" y="402336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D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px/cyc</a:t>
            </a:r>
            <a:endParaRPr lang="en-US" sz="3400" dirty="0"/>
          </a:p>
        </p:txBody>
      </p:sp>
      <p:sp>
        <p:nvSpPr>
          <p:cNvPr id="22" name="Text 20"/>
          <p:cNvSpPr txBox="1"/>
          <p:nvPr/>
        </p:nvSpPr>
        <p:spPr>
          <a:xfrm>
            <a:off x="4544568" y="48920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544568" y="52578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pipelined, no stalls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973568" y="3840480"/>
            <a:ext cx="3474720" cy="1965960"/>
          </a:xfrm>
          <a:prstGeom prst="roundRect">
            <a:avLst>
              <a:gd name="adj" fmla="val 4651"/>
            </a:avLst>
          </a:prstGeom>
          <a:solidFill>
            <a:srgbClr val="13223B"/>
          </a:solidFill>
          <a:ln/>
          <a:effectLst>
            <a:outerShdw sx="100000" sy="100000" kx="0" ky="0" algn="bl" rotWithShape="0" blurRad="101600" dist="25400" dir="5400000">
              <a:srgbClr val="000000">
                <a:alpha val="30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8202168" y="402336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D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7.52e-3</a:t>
            </a:r>
            <a:endParaRPr lang="en-US" sz="3400" dirty="0"/>
          </a:p>
        </p:txBody>
      </p:sp>
      <p:sp>
        <p:nvSpPr>
          <p:cNvPr id="26" name="Text 24"/>
          <p:cNvSpPr txBox="1"/>
          <p:nvPr/>
        </p:nvSpPr>
        <p:spPr>
          <a:xfrm>
            <a:off x="8202168" y="48920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of Merit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8202168" y="52578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≈19× the unoptimized baseline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63550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routed implementation · Xilinx Zynq-7020 (xc7z020clg400-1), PYNQ-Z2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31" dur="indefinite" restart="never" nodeType="tmRoot">
          <p:childTnLst>
            <p:seq concurrent="1" nextAc="seek">
              <p:cTn id="130" dur="indefinite" nodeType="mainSeq">
                <p:childTnLst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  <p:bldP spid="13" grpId="0"/>
      <p:bldP spid="17" grpId="0"/>
      <p:bldP spid="21" grpId="0"/>
      <p:bldP spid="2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256032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7 — WHY IT MATTERS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isn't a classroom exercise. It's a building block.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691640"/>
            <a:ext cx="6766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9F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pipeline that processes a 32×32 test image scales directly into the kind of always-on, battery-friendly vision the real world is short on: quality inspection on a production line, a security camera that decides locally, a sensor that doesn't need a data center to be useful.</a:t>
            </a:r>
            <a:endParaRPr lang="en-US" sz="165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4023360"/>
            <a:ext cx="6766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9F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because the AXI4-Lite interface is already built in, this core drops straight into a Zynq system-on-chip — one register write away from being driven by a real ARM processor.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7818120" y="1691640"/>
            <a:ext cx="3703320" cy="4114800"/>
          </a:xfrm>
          <a:prstGeom prst="roundRect">
            <a:avLst>
              <a:gd name="adj" fmla="val 2963"/>
            </a:avLst>
          </a:prstGeom>
          <a:solidFill>
            <a:srgbClr val="13223B"/>
          </a:solidFill>
          <a:ln/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pic>
        <p:nvPicPr>
          <p:cNvPr id="7" name="Image 0" descr="/tmp/work/pptx/icons/rocket_acc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36608" y="1965960"/>
            <a:ext cx="457200" cy="4572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046720" y="251460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criteria met</a:t>
            </a:r>
            <a:endParaRPr lang="en-US" sz="1400" dirty="0"/>
          </a:p>
        </p:txBody>
      </p:sp>
      <p:pic>
        <p:nvPicPr>
          <p:cNvPr id="9" name="Image 1" descr="/tmp/work/pptx/icons/check_acc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3063240"/>
            <a:ext cx="292608" cy="29260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503920" y="3008376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pixel / cycle, fully pipelined</a:t>
            </a:r>
            <a:endParaRPr lang="en-US" sz="1250" dirty="0"/>
          </a:p>
        </p:txBody>
      </p:sp>
      <p:pic>
        <p:nvPicPr>
          <p:cNvPr id="11" name="Image 2" descr="/tmp/work/pptx/icons/check_acc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3685032"/>
            <a:ext cx="292608" cy="29260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503920" y="3630168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ReLU activation</a:t>
            </a:r>
            <a:endParaRPr lang="en-US" sz="1250" dirty="0"/>
          </a:p>
        </p:txBody>
      </p:sp>
      <p:pic>
        <p:nvPicPr>
          <p:cNvPr id="13" name="Image 3" descr="/tmp/work/pptx/icons/check_acce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4306824"/>
            <a:ext cx="292608" cy="292608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8503920" y="425196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AXI4-Lite, real-SoC ready</a:t>
            </a:r>
            <a:endParaRPr lang="en-US" sz="1250" dirty="0"/>
          </a:p>
        </p:txBody>
      </p:sp>
      <p:sp>
        <p:nvSpPr>
          <p:cNvPr id="15" name="Text 9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58368" y="256032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8 — LOOKING BACK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solo actually taught.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1920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D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938528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deadline doesn't care who's left on the team — only what's finished.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3154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D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3172968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optimization needs a number behind it, or it's just a guess with extra steps.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43891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D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1554480" y="4407408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isn't the boring part after the design — it's what makes the design real.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286000"/>
            <a:ext cx="5486400" cy="5486400"/>
          </a:xfrm>
          <a:prstGeom prst="ellipse">
            <a:avLst/>
          </a:prstGeom>
          <a:solidFill>
            <a:srgbClr val="0F2440"/>
          </a:solidFill>
          <a:ln/>
        </p:spPr>
      </p:sp>
      <p:pic>
        <p:nvPicPr>
          <p:cNvPr id="3" name="Image 0" descr="/tmp/work/pptx/icons/trophy_acc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371600"/>
            <a:ext cx="777240" cy="7772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22960" y="2377440"/>
            <a:ext cx="9601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alone. Verified thoroughly.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Ready to be judged.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868680" y="42976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Silicon Minds  ·  Basel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868680" y="484632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report, verification test plan, and SystemVerilog/QuestaSim environment available in the project repository.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57607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3B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B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2026-09-06T17:30:35Z</dcterms:created>
  <dcterms:modified xsi:type="dcterms:W3CDTF">2026-09-06T17:30:35Z</dcterms:modified>
</cp:coreProperties>
</file>